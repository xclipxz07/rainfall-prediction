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8" r:id="rId1"/>
  </p:sldMasterIdLst>
  <p:notesMasterIdLst>
    <p:notesMasterId r:id="rId10"/>
  </p:notesMasterIdLst>
  <p:sldIdLst>
    <p:sldId id="262" r:id="rId2"/>
    <p:sldId id="267" r:id="rId3"/>
    <p:sldId id="277" r:id="rId4"/>
    <p:sldId id="269" r:id="rId5"/>
    <p:sldId id="281" r:id="rId6"/>
    <p:sldId id="278" r:id="rId7"/>
    <p:sldId id="279" r:id="rId8"/>
    <p:sldId id="280"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741"/>
  </p:normalViewPr>
  <p:slideViewPr>
    <p:cSldViewPr>
      <p:cViewPr varScale="1">
        <p:scale>
          <a:sx n="78" d="100"/>
          <a:sy n="78" d="100"/>
        </p:scale>
        <p:origin x="1594"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684C8C3-3CF0-4474-B2AA-21DD98C12084}" type="datetimeFigureOut">
              <a:rPr lang="en-GB" smtClean="0"/>
              <a:t>22/09/2022</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720E31D-47BB-4841-8BD9-6076B61A7B9F}" type="slidenum">
              <a:rPr lang="en-GB" smtClean="0"/>
              <a:t>‹#›</a:t>
            </a:fld>
            <a:endParaRPr lang="en-GB"/>
          </a:p>
        </p:txBody>
      </p:sp>
    </p:spTree>
    <p:extLst>
      <p:ext uri="{BB962C8B-B14F-4D97-AF65-F5344CB8AC3E}">
        <p14:creationId xmlns:p14="http://schemas.microsoft.com/office/powerpoint/2010/main" val="1894907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1F6D08-C9C3-4733-A4CD-ACB9FDF0FC1D}" type="datetimeFigureOut">
              <a:rPr lang="en-GB" smtClean="0"/>
              <a:t>22/09/2022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36BD46D-FA10-4319-A7E2-1319DDD2A5F6}" type="slidenum">
              <a:rPr lang="en-GB" smtClean="0"/>
              <a:t>‹#›</a:t>
            </a:fld>
            <a:endParaRPr lang="en-GB"/>
          </a:p>
        </p:txBody>
      </p:sp>
    </p:spTree>
    <p:extLst>
      <p:ext uri="{BB962C8B-B14F-4D97-AF65-F5344CB8AC3E}">
        <p14:creationId xmlns:p14="http://schemas.microsoft.com/office/powerpoint/2010/main" val="531599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1F6D08-C9C3-4733-A4CD-ACB9FDF0FC1D}" type="datetimeFigureOut">
              <a:rPr lang="en-GB" smtClean="0"/>
              <a:t>22/09/2022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36BD46D-FA10-4319-A7E2-1319DDD2A5F6}" type="slidenum">
              <a:rPr lang="en-GB" smtClean="0"/>
              <a:t>‹#›</a:t>
            </a:fld>
            <a:endParaRPr lang="en-GB"/>
          </a:p>
        </p:txBody>
      </p:sp>
    </p:spTree>
    <p:extLst>
      <p:ext uri="{BB962C8B-B14F-4D97-AF65-F5344CB8AC3E}">
        <p14:creationId xmlns:p14="http://schemas.microsoft.com/office/powerpoint/2010/main" val="524431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1F6D08-C9C3-4733-A4CD-ACB9FDF0FC1D}" type="datetimeFigureOut">
              <a:rPr lang="en-GB" smtClean="0"/>
              <a:t>22/09/2022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36BD46D-FA10-4319-A7E2-1319DDD2A5F6}" type="slidenum">
              <a:rPr lang="en-GB" smtClean="0"/>
              <a:t>‹#›</a:t>
            </a:fld>
            <a:endParaRPr lang="en-GB"/>
          </a:p>
        </p:txBody>
      </p:sp>
    </p:spTree>
    <p:extLst>
      <p:ext uri="{BB962C8B-B14F-4D97-AF65-F5344CB8AC3E}">
        <p14:creationId xmlns:p14="http://schemas.microsoft.com/office/powerpoint/2010/main" val="2288537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1F6D08-C9C3-4733-A4CD-ACB9FDF0FC1D}" type="datetimeFigureOut">
              <a:rPr lang="en-GB" smtClean="0"/>
              <a:t>22/09/2022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36BD46D-FA10-4319-A7E2-1319DDD2A5F6}" type="slidenum">
              <a:rPr lang="en-GB" smtClean="0"/>
              <a:t>‹#›</a:t>
            </a:fld>
            <a:endParaRPr lang="en-GB"/>
          </a:p>
        </p:txBody>
      </p:sp>
    </p:spTree>
    <p:extLst>
      <p:ext uri="{BB962C8B-B14F-4D97-AF65-F5344CB8AC3E}">
        <p14:creationId xmlns:p14="http://schemas.microsoft.com/office/powerpoint/2010/main" val="2047423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1F6D08-C9C3-4733-A4CD-ACB9FDF0FC1D}" type="datetimeFigureOut">
              <a:rPr lang="en-GB" smtClean="0"/>
              <a:t>22/09/2022</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36BD46D-FA10-4319-A7E2-1319DDD2A5F6}" type="slidenum">
              <a:rPr lang="en-GB" smtClean="0"/>
              <a:t>‹#›</a:t>
            </a:fld>
            <a:endParaRPr lang="en-GB"/>
          </a:p>
        </p:txBody>
      </p:sp>
    </p:spTree>
    <p:extLst>
      <p:ext uri="{BB962C8B-B14F-4D97-AF65-F5344CB8AC3E}">
        <p14:creationId xmlns:p14="http://schemas.microsoft.com/office/powerpoint/2010/main" val="2381871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1F6D08-C9C3-4733-A4CD-ACB9FDF0FC1D}" type="datetimeFigureOut">
              <a:rPr lang="en-GB" smtClean="0"/>
              <a:t>22/09/2022</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36BD46D-FA10-4319-A7E2-1319DDD2A5F6}" type="slidenum">
              <a:rPr lang="en-GB" smtClean="0"/>
              <a:t>‹#›</a:t>
            </a:fld>
            <a:endParaRPr lang="en-GB"/>
          </a:p>
        </p:txBody>
      </p:sp>
    </p:spTree>
    <p:extLst>
      <p:ext uri="{BB962C8B-B14F-4D97-AF65-F5344CB8AC3E}">
        <p14:creationId xmlns:p14="http://schemas.microsoft.com/office/powerpoint/2010/main" val="3776491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1F6D08-C9C3-4733-A4CD-ACB9FDF0FC1D}" type="datetimeFigureOut">
              <a:rPr lang="en-GB" smtClean="0"/>
              <a:t>22/09/2022</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36BD46D-FA10-4319-A7E2-1319DDD2A5F6}" type="slidenum">
              <a:rPr lang="en-GB" smtClean="0"/>
              <a:t>‹#›</a:t>
            </a:fld>
            <a:endParaRPr lang="en-GB"/>
          </a:p>
        </p:txBody>
      </p:sp>
    </p:spTree>
    <p:extLst>
      <p:ext uri="{BB962C8B-B14F-4D97-AF65-F5344CB8AC3E}">
        <p14:creationId xmlns:p14="http://schemas.microsoft.com/office/powerpoint/2010/main" val="1679421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D1F6D08-C9C3-4733-A4CD-ACB9FDF0FC1D}" type="datetimeFigureOut">
              <a:rPr lang="en-GB" smtClean="0"/>
              <a:t>22/09/2022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36BD46D-FA10-4319-A7E2-1319DDD2A5F6}" type="slidenum">
              <a:rPr lang="en-GB" smtClean="0"/>
              <a:t>‹#›</a:t>
            </a:fld>
            <a:endParaRPr lang="en-GB"/>
          </a:p>
        </p:txBody>
      </p:sp>
    </p:spTree>
    <p:extLst>
      <p:ext uri="{BB962C8B-B14F-4D97-AF65-F5344CB8AC3E}">
        <p14:creationId xmlns:p14="http://schemas.microsoft.com/office/powerpoint/2010/main" val="2394712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D1F6D08-C9C3-4733-A4CD-ACB9FDF0FC1D}" type="datetimeFigureOut">
              <a:rPr lang="en-GB" smtClean="0"/>
              <a:t>22/09/2022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36BD46D-FA10-4319-A7E2-1319DDD2A5F6}" type="slidenum">
              <a:rPr lang="en-GB" smtClean="0"/>
              <a:t>‹#›</a:t>
            </a:fld>
            <a:endParaRPr lang="en-GB"/>
          </a:p>
        </p:txBody>
      </p:sp>
    </p:spTree>
    <p:extLst>
      <p:ext uri="{BB962C8B-B14F-4D97-AF65-F5344CB8AC3E}">
        <p14:creationId xmlns:p14="http://schemas.microsoft.com/office/powerpoint/2010/main" val="2326361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1F6D08-C9C3-4733-A4CD-ACB9FDF0FC1D}" type="datetimeFigureOut">
              <a:rPr lang="en-GB" smtClean="0"/>
              <a:t>22/09/2022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36BD46D-FA10-4319-A7E2-1319DDD2A5F6}" type="slidenum">
              <a:rPr lang="en-GB" smtClean="0"/>
              <a:t>‹#›</a:t>
            </a:fld>
            <a:endParaRPr lang="en-GB"/>
          </a:p>
        </p:txBody>
      </p:sp>
    </p:spTree>
    <p:extLst>
      <p:ext uri="{BB962C8B-B14F-4D97-AF65-F5344CB8AC3E}">
        <p14:creationId xmlns:p14="http://schemas.microsoft.com/office/powerpoint/2010/main" val="27006434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1F6D08-C9C3-4733-A4CD-ACB9FDF0FC1D}" type="datetimeFigureOut">
              <a:rPr lang="en-GB" smtClean="0"/>
              <a:t>22/09/2022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36BD46D-FA10-4319-A7E2-1319DDD2A5F6}" type="slidenum">
              <a:rPr lang="en-GB" smtClean="0"/>
              <a:t>‹#›</a:t>
            </a:fld>
            <a:endParaRPr lang="en-GB"/>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877482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1F6D08-C9C3-4733-A4CD-ACB9FDF0FC1D}" type="datetimeFigureOut">
              <a:rPr lang="en-GB" smtClean="0"/>
              <a:t>22/09/2022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36BD46D-FA10-4319-A7E2-1319DDD2A5F6}" type="slidenum">
              <a:rPr lang="en-GB" smtClean="0"/>
              <a:t>‹#›</a:t>
            </a:fld>
            <a:endParaRPr lang="en-GB"/>
          </a:p>
        </p:txBody>
      </p:sp>
    </p:spTree>
    <p:extLst>
      <p:ext uri="{BB962C8B-B14F-4D97-AF65-F5344CB8AC3E}">
        <p14:creationId xmlns:p14="http://schemas.microsoft.com/office/powerpoint/2010/main" val="32507759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1F6D08-C9C3-4733-A4CD-ACB9FDF0FC1D}" type="datetimeFigureOut">
              <a:rPr lang="en-GB" smtClean="0"/>
              <a:t>22/09/2022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36BD46D-FA10-4319-A7E2-1319DDD2A5F6}" type="slidenum">
              <a:rPr lang="en-GB" smtClean="0"/>
              <a:t>‹#›</a:t>
            </a:fld>
            <a:endParaRPr lang="en-GB"/>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478156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1F6D08-C9C3-4733-A4CD-ACB9FDF0FC1D}" type="datetimeFigureOut">
              <a:rPr lang="en-GB" smtClean="0"/>
              <a:t>22/09/2022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36BD46D-FA10-4319-A7E2-1319DDD2A5F6}" type="slidenum">
              <a:rPr lang="en-GB" smtClean="0"/>
              <a:t>‹#›</a:t>
            </a:fld>
            <a:endParaRPr lang="en-GB"/>
          </a:p>
        </p:txBody>
      </p:sp>
    </p:spTree>
    <p:extLst>
      <p:ext uri="{BB962C8B-B14F-4D97-AF65-F5344CB8AC3E}">
        <p14:creationId xmlns:p14="http://schemas.microsoft.com/office/powerpoint/2010/main" val="24113491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1F6D08-C9C3-4733-A4CD-ACB9FDF0FC1D}" type="datetimeFigureOut">
              <a:rPr lang="en-GB" smtClean="0"/>
              <a:t>22/09/2022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36BD46D-FA10-4319-A7E2-1319DDD2A5F6}" type="slidenum">
              <a:rPr lang="en-GB" smtClean="0"/>
              <a:t>‹#›</a:t>
            </a:fld>
            <a:endParaRPr lang="en-GB"/>
          </a:p>
        </p:txBody>
      </p:sp>
    </p:spTree>
    <p:extLst>
      <p:ext uri="{BB962C8B-B14F-4D97-AF65-F5344CB8AC3E}">
        <p14:creationId xmlns:p14="http://schemas.microsoft.com/office/powerpoint/2010/main" val="544166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1F6D08-C9C3-4733-A4CD-ACB9FDF0FC1D}" type="datetimeFigureOut">
              <a:rPr lang="en-GB" smtClean="0"/>
              <a:t>22/09/2022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36BD46D-FA10-4319-A7E2-1319DDD2A5F6}" type="slidenum">
              <a:rPr lang="en-GB" smtClean="0"/>
              <a:t>‹#›</a:t>
            </a:fld>
            <a:endParaRPr lang="en-GB"/>
          </a:p>
        </p:txBody>
      </p:sp>
    </p:spTree>
    <p:extLst>
      <p:ext uri="{BB962C8B-B14F-4D97-AF65-F5344CB8AC3E}">
        <p14:creationId xmlns:p14="http://schemas.microsoft.com/office/powerpoint/2010/main" val="3030627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D1F6D08-C9C3-4733-A4CD-ACB9FDF0FC1D}" type="datetimeFigureOut">
              <a:rPr lang="en-GB" smtClean="0"/>
              <a:t>22/09/2022</a:t>
            </a:fld>
            <a:endParaRPr lang="en-GB"/>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036BD46D-FA10-4319-A7E2-1319DDD2A5F6}" type="slidenum">
              <a:rPr lang="en-GB" smtClean="0"/>
              <a:t>‹#›</a:t>
            </a:fld>
            <a:endParaRPr lang="en-GB"/>
          </a:p>
        </p:txBody>
      </p:sp>
    </p:spTree>
    <p:extLst>
      <p:ext uri="{BB962C8B-B14F-4D97-AF65-F5344CB8AC3E}">
        <p14:creationId xmlns:p14="http://schemas.microsoft.com/office/powerpoint/2010/main" val="894140498"/>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 id="2147483840" r:id="rId12"/>
    <p:sldLayoutId id="2147483841" r:id="rId13"/>
    <p:sldLayoutId id="2147483842" r:id="rId14"/>
    <p:sldLayoutId id="2147483843" r:id="rId15"/>
    <p:sldLayoutId id="214748384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6368" y="188640"/>
            <a:ext cx="8466112" cy="850106"/>
          </a:xfrm>
          <a:solidFill>
            <a:schemeClr val="accent1"/>
          </a:solidFill>
        </p:spPr>
        <p:txBody>
          <a:bodyPr>
            <a:normAutofit/>
          </a:bodyPr>
          <a:lstStyle/>
          <a:p>
            <a:pPr algn="l"/>
            <a:r>
              <a:rPr lang="en-GB" sz="2800" b="1" i="1" dirty="0">
                <a:solidFill>
                  <a:schemeClr val="bg1"/>
                </a:solidFill>
                <a:latin typeface="Arial" panose="020B0604020202020204" pitchFamily="34" charset="0"/>
                <a:cs typeface="Arial" panose="020B0604020202020204" pitchFamily="34" charset="0"/>
              </a:rPr>
              <a:t>Rainfall prediction using machine learning</a:t>
            </a:r>
          </a:p>
        </p:txBody>
      </p:sp>
      <p:sp>
        <p:nvSpPr>
          <p:cNvPr id="14" name="TextBox 13">
            <a:extLst>
              <a:ext uri="{FF2B5EF4-FFF2-40B4-BE49-F238E27FC236}">
                <a16:creationId xmlns:a16="http://schemas.microsoft.com/office/drawing/2014/main" id="{3814D6C6-4513-9702-8F06-1158076A9AD5}"/>
              </a:ext>
            </a:extLst>
          </p:cNvPr>
          <p:cNvSpPr txBox="1"/>
          <p:nvPr/>
        </p:nvSpPr>
        <p:spPr>
          <a:xfrm>
            <a:off x="5436096" y="5013176"/>
            <a:ext cx="3312368" cy="1200329"/>
          </a:xfrm>
          <a:prstGeom prst="rect">
            <a:avLst/>
          </a:prstGeom>
          <a:noFill/>
        </p:spPr>
        <p:txBody>
          <a:bodyPr wrap="square" rtlCol="0">
            <a:spAutoFit/>
          </a:bodyPr>
          <a:lstStyle/>
          <a:p>
            <a:r>
              <a:rPr lang="en-IN" dirty="0"/>
              <a:t>Presented  by:</a:t>
            </a:r>
          </a:p>
          <a:p>
            <a:r>
              <a:rPr lang="en-IN" dirty="0"/>
              <a:t>Prabhat Dhar</a:t>
            </a:r>
          </a:p>
          <a:p>
            <a:r>
              <a:rPr lang="en-IN" dirty="0"/>
              <a:t>Registration Number:</a:t>
            </a:r>
          </a:p>
          <a:p>
            <a:r>
              <a:rPr lang="en-IN" dirty="0"/>
              <a:t>2108152</a:t>
            </a:r>
          </a:p>
        </p:txBody>
      </p:sp>
      <p:pic>
        <p:nvPicPr>
          <p:cNvPr id="6" name="Content Placeholder 5" descr="Text&#10;&#10;Description automatically generated">
            <a:extLst>
              <a:ext uri="{FF2B5EF4-FFF2-40B4-BE49-F238E27FC236}">
                <a16:creationId xmlns:a16="http://schemas.microsoft.com/office/drawing/2014/main" id="{9C186515-B179-5C48-752A-113C15C1866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54063" y="1292569"/>
            <a:ext cx="6348412" cy="3560074"/>
          </a:xfrm>
        </p:spPr>
      </p:pic>
    </p:spTree>
    <p:extLst>
      <p:ext uri="{BB962C8B-B14F-4D97-AF65-F5344CB8AC3E}">
        <p14:creationId xmlns:p14="http://schemas.microsoft.com/office/powerpoint/2010/main" val="3465528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a:solidFill>
            <a:schemeClr val="accent1"/>
          </a:solidFill>
        </p:spPr>
        <p:txBody>
          <a:bodyPr>
            <a:normAutofit/>
          </a:bodyPr>
          <a:lstStyle/>
          <a:p>
            <a:pPr algn="l"/>
            <a:r>
              <a:rPr lang="en-GB" sz="3200" b="1" i="1" dirty="0">
                <a:solidFill>
                  <a:schemeClr val="bg1"/>
                </a:solidFill>
                <a:latin typeface="Arial" panose="020B0604020202020204" pitchFamily="34" charset="0"/>
                <a:cs typeface="Arial" panose="020B0604020202020204" pitchFamily="34" charset="0"/>
              </a:rPr>
              <a:t>Introduction: </a:t>
            </a:r>
          </a:p>
        </p:txBody>
      </p:sp>
      <p:sp>
        <p:nvSpPr>
          <p:cNvPr id="3" name="Content Placeholder 2"/>
          <p:cNvSpPr>
            <a:spLocks noGrp="1"/>
          </p:cNvSpPr>
          <p:nvPr>
            <p:ph idx="1"/>
          </p:nvPr>
        </p:nvSpPr>
        <p:spPr>
          <a:xfrm>
            <a:off x="457200" y="1196752"/>
            <a:ext cx="8229600" cy="5472608"/>
          </a:xfrm>
        </p:spPr>
        <p:txBody>
          <a:bodyPr>
            <a:normAutofit/>
          </a:bodyPr>
          <a:lstStyle/>
          <a:p>
            <a:r>
              <a:rPr lang="en-US" sz="2000" b="1" dirty="0"/>
              <a:t>Predicting rainfall can assist prevent flooding, save human lives and property. Additionally, it aids in the management of water resources. Prior rainfall data is useful to farmers for improved crop management, which boosts the nation’s economy</a:t>
            </a:r>
            <a:r>
              <a:rPr lang="en-GB" sz="2000" b="1" dirty="0">
                <a:latin typeface="Arial" panose="020B0604020202020204" pitchFamily="34" charset="0"/>
                <a:cs typeface="Arial" panose="020B0604020202020204" pitchFamily="34" charset="0"/>
              </a:rPr>
              <a:t>. </a:t>
            </a:r>
          </a:p>
          <a:p>
            <a:r>
              <a:rPr lang="en-US" sz="2000" b="1" dirty="0"/>
              <a:t>To develop a prediction model for precise rainfall, forecasting is one of the greatest problems for academics from a number of domains, including meteorological data mining, environmental machine learning, functional hydrology</a:t>
            </a:r>
            <a:r>
              <a:rPr lang="en-GB" sz="2000" b="1" dirty="0">
                <a:latin typeface="Arial" panose="020B0604020202020204" pitchFamily="34" charset="0"/>
                <a:cs typeface="Arial" panose="020B0604020202020204" pitchFamily="34" charset="0"/>
              </a:rPr>
              <a:t>. </a:t>
            </a:r>
          </a:p>
          <a:p>
            <a:r>
              <a:rPr lang="en-US" sz="2000" b="1" i="0" dirty="0">
                <a:solidFill>
                  <a:srgbClr val="202124"/>
                </a:solidFill>
                <a:effectLst/>
                <a:latin typeface="arial" panose="020B0604020202020204" pitchFamily="34" charset="0"/>
              </a:rPr>
              <a:t>Here I have used different machine learning technique in order to make rainfall prediction like Random forest method, KNN, Logistic regression, XG Boost Classifier, LDA and Naïve Bayes. </a:t>
            </a:r>
          </a:p>
          <a:p>
            <a:r>
              <a:rPr lang="en-US" sz="2000" b="1" dirty="0"/>
              <a:t>Weather forecasting is the most popular service offered by the meteorological department for all nations worldwide. Due to the need for several specialists and the uncertainty of every calls, the process is quite hard</a:t>
            </a:r>
            <a:r>
              <a:rPr lang="en-US" sz="2000" dirty="0"/>
              <a:t>.</a:t>
            </a:r>
            <a:r>
              <a:rPr lang="en-GB" sz="2000" b="1" dirty="0">
                <a:latin typeface="Arial" panose="020B0604020202020204" pitchFamily="34" charset="0"/>
                <a:cs typeface="Arial" panose="020B0604020202020204" pitchFamily="34" charset="0"/>
              </a:rPr>
              <a:t> </a:t>
            </a:r>
          </a:p>
          <a:p>
            <a:pPr marL="354013" indent="-354013">
              <a:buClr>
                <a:schemeClr val="accent1"/>
              </a:buClr>
              <a:buFont typeface="Wingdings" panose="05000000000000000000" pitchFamily="2" charset="2"/>
              <a:buChar char="§"/>
            </a:pPr>
            <a:endParaRPr lang="en-GB" sz="1800" dirty="0">
              <a:latin typeface="Arial" panose="020B0604020202020204" pitchFamily="34" charset="0"/>
              <a:cs typeface="Arial" panose="020B0604020202020204" pitchFamily="34" charset="0"/>
            </a:endParaRPr>
          </a:p>
          <a:p>
            <a:pPr marL="354013" indent="-354013">
              <a:buClr>
                <a:schemeClr val="accent1"/>
              </a:buClr>
              <a:buFont typeface="Wingdings" panose="05000000000000000000" pitchFamily="2" charset="2"/>
              <a:buChar char="§"/>
            </a:pPr>
            <a:endParaRPr lang="en-GB"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6050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a:solidFill>
            <a:schemeClr val="accent1"/>
          </a:solidFill>
        </p:spPr>
        <p:txBody>
          <a:bodyPr>
            <a:normAutofit/>
          </a:bodyPr>
          <a:lstStyle/>
          <a:p>
            <a:pPr algn="l"/>
            <a:r>
              <a:rPr lang="en-GB" sz="3200" b="1" i="1" dirty="0">
                <a:solidFill>
                  <a:schemeClr val="bg1"/>
                </a:solidFill>
                <a:latin typeface="Arial" panose="020B0604020202020204" pitchFamily="34" charset="0"/>
                <a:cs typeface="Arial" panose="020B0604020202020204" pitchFamily="34" charset="0"/>
              </a:rPr>
              <a:t>Historical Data about the dataset used:</a:t>
            </a:r>
          </a:p>
        </p:txBody>
      </p:sp>
      <p:sp>
        <p:nvSpPr>
          <p:cNvPr id="3" name="Content Placeholder 2"/>
          <p:cNvSpPr>
            <a:spLocks noGrp="1"/>
          </p:cNvSpPr>
          <p:nvPr>
            <p:ph idx="1"/>
          </p:nvPr>
        </p:nvSpPr>
        <p:spPr>
          <a:xfrm>
            <a:off x="457200" y="1196752"/>
            <a:ext cx="8229600" cy="5472608"/>
          </a:xfrm>
        </p:spPr>
        <p:txBody>
          <a:bodyPr>
            <a:normAutofit fontScale="92500" lnSpcReduction="10000"/>
          </a:bodyPr>
          <a:lstStyle/>
          <a:p>
            <a:r>
              <a:rPr lang="en-US" sz="2000" b="1" dirty="0"/>
              <a:t>Investigation of weather report in Australia has been done taken into several external factors like humidity, wind speed, wind direction, temperature </a:t>
            </a:r>
            <a:r>
              <a:rPr lang="en-US" sz="2000" b="1" dirty="0" err="1"/>
              <a:t>etc</a:t>
            </a:r>
            <a:r>
              <a:rPr lang="en-US" sz="2000" b="1" dirty="0"/>
              <a:t> from the year 2008 to 2020 and we will predict whether it is going to rain or not and then forecast amount of rainfall that will occur in next 30 days</a:t>
            </a:r>
            <a:r>
              <a:rPr lang="en-GB" sz="2000" b="1" dirty="0">
                <a:latin typeface="Arial" panose="020B0604020202020204" pitchFamily="34" charset="0"/>
                <a:cs typeface="Arial" panose="020B0604020202020204" pitchFamily="34" charset="0"/>
              </a:rPr>
              <a:t>. </a:t>
            </a:r>
          </a:p>
          <a:p>
            <a:r>
              <a:rPr lang="en-US" sz="2000" b="1" dirty="0"/>
              <a:t>All the </a:t>
            </a:r>
            <a:r>
              <a:rPr lang="en-US" sz="2000" b="1" dirty="0" err="1"/>
              <a:t>necesaary</a:t>
            </a:r>
            <a:r>
              <a:rPr lang="en-US" sz="2000" b="1" dirty="0"/>
              <a:t> pre-processing steps and cleaning of data has been done before doing the prediction. We has downloaded the dataset from www.kaggle.com and it contains 1,45,460 rows and 23 columns</a:t>
            </a:r>
            <a:r>
              <a:rPr lang="en-GB" sz="2000" b="1" dirty="0">
                <a:latin typeface="Arial" panose="020B0604020202020204" pitchFamily="34" charset="0"/>
                <a:cs typeface="Arial" panose="020B0604020202020204" pitchFamily="34" charset="0"/>
              </a:rPr>
              <a:t>.  </a:t>
            </a:r>
          </a:p>
          <a:p>
            <a:r>
              <a:rPr lang="en-GB" sz="2000" b="1" dirty="0">
                <a:latin typeface="Arial" panose="020B0604020202020204" pitchFamily="34" charset="0"/>
                <a:cs typeface="Arial" panose="020B0604020202020204" pitchFamily="34" charset="0"/>
              </a:rPr>
              <a:t>Random imputation is used in order to fill the missing value and mean imputation is used for continuous variable which has low percentage of missing value. </a:t>
            </a:r>
          </a:p>
          <a:p>
            <a:r>
              <a:rPr lang="en-GB" sz="2000" b="1" dirty="0">
                <a:solidFill>
                  <a:srgbClr val="202124"/>
                </a:solidFill>
                <a:latin typeface="Arial" panose="020B0604020202020204" pitchFamily="34" charset="0"/>
                <a:cs typeface="Arial" panose="020B0604020202020204" pitchFamily="34" charset="0"/>
              </a:rPr>
              <a:t>Multicollinearity is checked using heatmap and we make the target column balanced as it is not unbalanced at first. </a:t>
            </a:r>
            <a:endParaRPr lang="en-US" sz="2000" b="1" i="0" dirty="0">
              <a:solidFill>
                <a:srgbClr val="202124"/>
              </a:solidFill>
              <a:effectLst/>
              <a:latin typeface="arial" panose="020B0604020202020204" pitchFamily="34" charset="0"/>
            </a:endParaRPr>
          </a:p>
          <a:p>
            <a:r>
              <a:rPr lang="en-US" sz="2000" b="1" dirty="0"/>
              <a:t>We have also normalize the dataset that is used scaling to keep the value in range(0-1)</a:t>
            </a:r>
            <a:r>
              <a:rPr lang="en-GB" sz="2000" b="1" dirty="0">
                <a:latin typeface="Arial" panose="020B0604020202020204" pitchFamily="34" charset="0"/>
                <a:cs typeface="Arial" panose="020B0604020202020204" pitchFamily="34" charset="0"/>
              </a:rPr>
              <a:t>. </a:t>
            </a:r>
            <a:r>
              <a:rPr lang="en-US" sz="2000" b="1" dirty="0"/>
              <a:t>We have </a:t>
            </a:r>
            <a:r>
              <a:rPr lang="en-US" sz="2000" b="1" dirty="0" err="1"/>
              <a:t>groupby</a:t>
            </a:r>
            <a:r>
              <a:rPr lang="en-US" sz="2000" b="1" dirty="0"/>
              <a:t> the two columns that is Location and </a:t>
            </a:r>
            <a:r>
              <a:rPr lang="en-US" sz="2000" b="1" dirty="0" err="1"/>
              <a:t>RainTomorrow</a:t>
            </a:r>
            <a:r>
              <a:rPr lang="en-US" sz="2000" b="1" dirty="0"/>
              <a:t> and used label encoder for our location column according to the target variable.</a:t>
            </a:r>
            <a:endParaRPr lang="en-GB" sz="2000" b="1" dirty="0">
              <a:latin typeface="Arial" panose="020B0604020202020204" pitchFamily="34" charset="0"/>
              <a:cs typeface="Arial" panose="020B0604020202020204" pitchFamily="34" charset="0"/>
            </a:endParaRPr>
          </a:p>
          <a:p>
            <a:pPr marL="354013" indent="-354013">
              <a:buClr>
                <a:schemeClr val="accent1"/>
              </a:buClr>
              <a:buFont typeface="Wingdings" panose="05000000000000000000" pitchFamily="2" charset="2"/>
              <a:buChar char="§"/>
            </a:pPr>
            <a:endParaRPr lang="en-GB" sz="1800" dirty="0">
              <a:latin typeface="Arial" panose="020B0604020202020204" pitchFamily="34" charset="0"/>
              <a:cs typeface="Arial" panose="020B0604020202020204" pitchFamily="34" charset="0"/>
            </a:endParaRPr>
          </a:p>
          <a:p>
            <a:pPr marL="354013" indent="-354013">
              <a:buClr>
                <a:schemeClr val="accent1"/>
              </a:buClr>
              <a:buFont typeface="Wingdings" panose="05000000000000000000" pitchFamily="2" charset="2"/>
              <a:buChar char="§"/>
            </a:pPr>
            <a:endParaRPr lang="en-GB"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73051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35280" cy="850106"/>
          </a:xfrm>
          <a:solidFill>
            <a:schemeClr val="accent1"/>
          </a:solidFill>
        </p:spPr>
        <p:txBody>
          <a:bodyPr>
            <a:normAutofit/>
          </a:bodyPr>
          <a:lstStyle/>
          <a:p>
            <a:pPr algn="l"/>
            <a:r>
              <a:rPr lang="en-GB" sz="3200" b="1" i="1" dirty="0">
                <a:solidFill>
                  <a:schemeClr val="bg1"/>
                </a:solidFill>
                <a:latin typeface="Arial" panose="020B0604020202020204" pitchFamily="34" charset="0"/>
                <a:cs typeface="Arial" panose="020B0604020202020204" pitchFamily="34" charset="0"/>
              </a:rPr>
              <a:t>Algorithms used for machine learning:</a:t>
            </a:r>
          </a:p>
        </p:txBody>
      </p:sp>
      <p:sp>
        <p:nvSpPr>
          <p:cNvPr id="3" name="Content Placeholder 2"/>
          <p:cNvSpPr>
            <a:spLocks noGrp="1"/>
          </p:cNvSpPr>
          <p:nvPr>
            <p:ph idx="1"/>
          </p:nvPr>
        </p:nvSpPr>
        <p:spPr>
          <a:xfrm>
            <a:off x="457200" y="1196752"/>
            <a:ext cx="5410944" cy="5386610"/>
          </a:xfrm>
        </p:spPr>
        <p:txBody>
          <a:bodyPr>
            <a:normAutofit lnSpcReduction="10000"/>
          </a:bodyPr>
          <a:lstStyle/>
          <a:p>
            <a:pPr>
              <a:buClr>
                <a:schemeClr val="accent1"/>
              </a:buClr>
              <a:buFont typeface="Wingdings" panose="05000000000000000000" pitchFamily="2" charset="2"/>
              <a:buChar char="Ø"/>
            </a:pPr>
            <a:r>
              <a:rPr lang="en-GB" b="1" i="1" u="sng" dirty="0">
                <a:latin typeface="Arial" panose="020B0604020202020204" pitchFamily="34" charset="0"/>
                <a:cs typeface="Arial" panose="020B0604020202020204" pitchFamily="34" charset="0"/>
              </a:rPr>
              <a:t>Random Forest Method</a:t>
            </a:r>
            <a:r>
              <a:rPr lang="en-GB" sz="1800" b="1" i="1" dirty="0">
                <a:latin typeface="Arial" panose="020B0604020202020204" pitchFamily="34" charset="0"/>
                <a:cs typeface="Arial" panose="020B0604020202020204" pitchFamily="34" charset="0"/>
              </a:rPr>
              <a:t> -</a:t>
            </a:r>
            <a:r>
              <a:rPr lang="en-US" b="1" dirty="0"/>
              <a:t>One of the most used type of ensemble technique in machine learning is random forest method and it has good performance and </a:t>
            </a:r>
            <a:r>
              <a:rPr lang="en-US" b="1" dirty="0" err="1"/>
              <a:t>scalibility</a:t>
            </a:r>
            <a:r>
              <a:rPr lang="en-US" b="1" dirty="0"/>
              <a:t> that is why it is used in the industry</a:t>
            </a:r>
            <a:r>
              <a:rPr lang="en-US" sz="1800" b="1" dirty="0">
                <a:latin typeface="Arial" panose="020B0604020202020204" pitchFamily="34" charset="0"/>
                <a:cs typeface="Arial" panose="020B0604020202020204" pitchFamily="34" charset="0"/>
              </a:rPr>
              <a:t>. </a:t>
            </a:r>
          </a:p>
          <a:p>
            <a:pPr marL="0" indent="0">
              <a:buClr>
                <a:schemeClr val="accent1"/>
              </a:buClr>
              <a:buNone/>
            </a:pPr>
            <a:endParaRPr lang="en-US" sz="1800" b="1" dirty="0">
              <a:latin typeface="Arial" panose="020B0604020202020204" pitchFamily="34" charset="0"/>
              <a:cs typeface="Arial" panose="020B0604020202020204" pitchFamily="34" charset="0"/>
            </a:endParaRPr>
          </a:p>
          <a:p>
            <a:pPr>
              <a:buClr>
                <a:schemeClr val="accent1"/>
              </a:buClr>
              <a:buFont typeface="Wingdings" panose="05000000000000000000" pitchFamily="2" charset="2"/>
              <a:buChar char="Ø"/>
            </a:pPr>
            <a:r>
              <a:rPr lang="en-US" b="1" i="1" u="sng" dirty="0">
                <a:latin typeface="Arial" panose="020B0604020202020204" pitchFamily="34" charset="0"/>
                <a:cs typeface="Arial" panose="020B0604020202020204" pitchFamily="34" charset="0"/>
              </a:rPr>
              <a:t>Naïve Bayes</a:t>
            </a:r>
            <a:r>
              <a:rPr lang="en-US" b="1" dirty="0">
                <a:latin typeface="Arial" panose="020B0604020202020204" pitchFamily="34" charset="0"/>
                <a:cs typeface="Arial" panose="020B0604020202020204" pitchFamily="34" charset="0"/>
              </a:rPr>
              <a:t> -</a:t>
            </a:r>
            <a:r>
              <a:rPr lang="en-US" b="1" dirty="0"/>
              <a:t>In the field of statistics Naive Bayes classifier can be defined as the group of probabilistic classifier which we get after using Bayes Theorem with high independence proof between the features</a:t>
            </a:r>
            <a:r>
              <a:rPr lang="en-US" b="1" i="0" dirty="0">
                <a:solidFill>
                  <a:srgbClr val="202124"/>
                </a:solidFill>
                <a:effectLst/>
                <a:latin typeface="arial" panose="020B0604020202020204" pitchFamily="34" charset="0"/>
              </a:rPr>
              <a:t>.</a:t>
            </a:r>
          </a:p>
          <a:p>
            <a:pPr>
              <a:buClr>
                <a:schemeClr val="accent1"/>
              </a:buClr>
              <a:buFont typeface="Wingdings" panose="05000000000000000000" pitchFamily="2" charset="2"/>
              <a:buChar char="Ø"/>
            </a:pPr>
            <a:endParaRPr lang="en-US" b="1" i="0" dirty="0">
              <a:solidFill>
                <a:srgbClr val="202124"/>
              </a:solidFill>
              <a:effectLst/>
              <a:latin typeface="arial" panose="020B0604020202020204" pitchFamily="34" charset="0"/>
            </a:endParaRPr>
          </a:p>
          <a:p>
            <a:pPr>
              <a:buFont typeface="Wingdings" panose="05000000000000000000" pitchFamily="2" charset="2"/>
              <a:buChar char="Ø"/>
            </a:pPr>
            <a:r>
              <a:rPr lang="en-US" b="1" u="sng" dirty="0">
                <a:solidFill>
                  <a:srgbClr val="202124"/>
                </a:solidFill>
                <a:latin typeface="arial" panose="020B0604020202020204" pitchFamily="34" charset="0"/>
                <a:cs typeface="Arial" panose="020B0604020202020204" pitchFamily="34" charset="0"/>
              </a:rPr>
              <a:t>KNN</a:t>
            </a:r>
            <a:r>
              <a:rPr lang="en-US" b="1" dirty="0">
                <a:solidFill>
                  <a:srgbClr val="202124"/>
                </a:solidFill>
                <a:latin typeface="arial" panose="020B0604020202020204" pitchFamily="34" charset="0"/>
                <a:cs typeface="Arial" panose="020B0604020202020204" pitchFamily="34" charset="0"/>
              </a:rPr>
              <a:t>–</a:t>
            </a:r>
            <a:r>
              <a:rPr lang="en-US" b="1" dirty="0"/>
              <a:t>K Nearest Algorithm is a lazy learning algorithm and it is used for regression and classification problem is also a non </a:t>
            </a:r>
            <a:r>
              <a:rPr lang="en-US" b="1" dirty="0" err="1"/>
              <a:t>paramteric</a:t>
            </a:r>
            <a:r>
              <a:rPr lang="en-US" b="1" dirty="0"/>
              <a:t> model. In machine learning there are two types of models: Parametric and Non Parametric model.</a:t>
            </a:r>
            <a:endParaRPr lang="en-US" b="1" i="0" dirty="0">
              <a:solidFill>
                <a:srgbClr val="202124"/>
              </a:solidFill>
              <a:effectLst/>
              <a:latin typeface="arial" panose="020B0604020202020204" pitchFamily="34" charset="0"/>
            </a:endParaRPr>
          </a:p>
          <a:p>
            <a:pPr marL="0" indent="0">
              <a:buClr>
                <a:schemeClr val="accent1"/>
              </a:buClr>
              <a:buNone/>
            </a:pPr>
            <a:endParaRPr lang="en-US" sz="1800" b="1" dirty="0">
              <a:solidFill>
                <a:srgbClr val="202124"/>
              </a:solidFill>
              <a:latin typeface="arial" panose="020B0604020202020204" pitchFamily="34" charset="0"/>
              <a:cs typeface="Arial" panose="020B0604020202020204" pitchFamily="34" charset="0"/>
            </a:endParaRPr>
          </a:p>
          <a:p>
            <a:pPr>
              <a:buClr>
                <a:schemeClr val="accent1"/>
              </a:buClr>
              <a:buFont typeface="Wingdings" panose="05000000000000000000" pitchFamily="2" charset="2"/>
              <a:buChar char="Ø"/>
            </a:pPr>
            <a:endParaRPr lang="en-US" b="1" i="1" dirty="0">
              <a:solidFill>
                <a:srgbClr val="202124"/>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92914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C95415-1EB5-0D24-D8B0-E9D7708CA6D8}"/>
              </a:ext>
            </a:extLst>
          </p:cNvPr>
          <p:cNvSpPr>
            <a:spLocks noGrp="1"/>
          </p:cNvSpPr>
          <p:nvPr>
            <p:ph type="title"/>
          </p:nvPr>
        </p:nvSpPr>
        <p:spPr>
          <a:xfrm>
            <a:off x="467544" y="404664"/>
            <a:ext cx="7497880" cy="6054216"/>
          </a:xfrm>
        </p:spPr>
        <p:txBody>
          <a:bodyPr>
            <a:normAutofit fontScale="90000"/>
          </a:bodyPr>
          <a:lstStyle/>
          <a:p>
            <a:r>
              <a:rPr lang="en-US" sz="2000" dirty="0"/>
              <a:t>4)Logistic Regression</a:t>
            </a:r>
            <a:r>
              <a:rPr lang="en-US" sz="3200" dirty="0"/>
              <a:t>: </a:t>
            </a:r>
            <a:r>
              <a:rPr lang="en-US" sz="2000" dirty="0"/>
              <a:t>Classification problems may have binary or multiple outcomes or classes. In our case we will be using binary logistic regression since there are only 2 classes available in the data. Logistic regression is a statistical model in which discrete value is given by response variable and the explanatory variable can be either continuous and discrete Let us assume that outcomes are positive(coded as Y=1) and negative coded as(Y=0).</a:t>
            </a:r>
            <a:br>
              <a:rPr lang="en-US" sz="2000" dirty="0"/>
            </a:br>
            <a:br>
              <a:rPr lang="en-US" sz="2000" dirty="0"/>
            </a:br>
            <a:r>
              <a:rPr lang="en-US" sz="2000" dirty="0"/>
              <a:t>5)Latent Dirichlet Allocation (LDA), a generative statistical model used in natural language processing, explains a set of observations through unseen groups, with each group explaining why certain portions of the data are similar. An illustration of a topic model is the LDA.</a:t>
            </a:r>
            <a:br>
              <a:rPr lang="en-US" sz="2000" dirty="0"/>
            </a:br>
            <a:br>
              <a:rPr lang="en-US" sz="2000" dirty="0"/>
            </a:br>
            <a:r>
              <a:rPr lang="en-US" sz="2000" dirty="0"/>
              <a:t>6)XG Boost Classifier: Some model compression strategies allow turning an </a:t>
            </a:r>
            <a:r>
              <a:rPr lang="en-US" sz="2000" dirty="0" err="1"/>
              <a:t>XGBoost</a:t>
            </a:r>
            <a:r>
              <a:rPr lang="en-US" sz="2000" dirty="0"/>
              <a:t> into a single "born-again" decision tree that roughly approximates the same decision function in order to achieve performance and interpretability. Some of the features XG Boost algorithm has that make it different from other algorithm</a:t>
            </a:r>
          </a:p>
        </p:txBody>
      </p:sp>
    </p:spTree>
    <p:extLst>
      <p:ext uri="{BB962C8B-B14F-4D97-AF65-F5344CB8AC3E}">
        <p14:creationId xmlns:p14="http://schemas.microsoft.com/office/powerpoint/2010/main" val="3352994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360" y="124578"/>
            <a:ext cx="8435280" cy="850106"/>
          </a:xfrm>
          <a:solidFill>
            <a:schemeClr val="accent1"/>
          </a:solidFill>
        </p:spPr>
        <p:txBody>
          <a:bodyPr>
            <a:normAutofit/>
          </a:bodyPr>
          <a:lstStyle/>
          <a:p>
            <a:pPr algn="l"/>
            <a:r>
              <a:rPr lang="en-GB" sz="3200" b="1" i="1" dirty="0">
                <a:solidFill>
                  <a:schemeClr val="bg1"/>
                </a:solidFill>
                <a:latin typeface="Arial" panose="020B0604020202020204" pitchFamily="34" charset="0"/>
                <a:cs typeface="Arial" panose="020B0604020202020204" pitchFamily="34" charset="0"/>
              </a:rPr>
              <a:t>Results and Discussions:</a:t>
            </a:r>
          </a:p>
        </p:txBody>
      </p:sp>
      <p:sp>
        <p:nvSpPr>
          <p:cNvPr id="3" name="Content Placeholder 2"/>
          <p:cNvSpPr>
            <a:spLocks noGrp="1"/>
          </p:cNvSpPr>
          <p:nvPr>
            <p:ph idx="1"/>
          </p:nvPr>
        </p:nvSpPr>
        <p:spPr>
          <a:xfrm>
            <a:off x="354360" y="1268760"/>
            <a:ext cx="8435280" cy="5328592"/>
          </a:xfrm>
        </p:spPr>
        <p:txBody>
          <a:bodyPr>
            <a:normAutofit fontScale="92500" lnSpcReduction="10000"/>
          </a:bodyPr>
          <a:lstStyle/>
          <a:p>
            <a:pPr marL="0" indent="0">
              <a:buClr>
                <a:schemeClr val="accent1"/>
              </a:buClr>
              <a:buNone/>
            </a:pPr>
            <a:r>
              <a:rPr lang="en-US" dirty="0"/>
              <a:t>We use used classification report in order to find the accuracy of the model that we have used like Random Forest Method, Gaussian Naive Bayes, Logistic Regression, K Nearest Neighbors , XG Boost Classifier and LDA . By looking at the accuracy we see that almost all the model perform very well in this data with accuracy around 82-86 percent range. XB Boost performs the best in our case with the accuracy of 86 percent but here we have not used any hyperparameter tuning like in Logistic Regression. The baseline accuracy in case of logistic regression was 83.94 percent and after using the </a:t>
            </a:r>
            <a:r>
              <a:rPr lang="en-US" dirty="0" err="1"/>
              <a:t>hyparameter</a:t>
            </a:r>
            <a:r>
              <a:rPr lang="en-US" dirty="0"/>
              <a:t> tuning with the best parameter value(C=1 and penalty = l2) the accuracy increased to 84.21 percent. The reason why XG Boost has the highest accuracy may be due to A </a:t>
            </a:r>
            <a:r>
              <a:rPr lang="en-US" dirty="0" err="1"/>
              <a:t>regularised</a:t>
            </a:r>
            <a:r>
              <a:rPr lang="en-US" dirty="0"/>
              <a:t> (L1 and L2) objective function with a function of convex loss and a model complexity penalty term is </a:t>
            </a:r>
            <a:r>
              <a:rPr lang="en-US" dirty="0" err="1"/>
              <a:t>minimised</a:t>
            </a:r>
            <a:r>
              <a:rPr lang="en-US" dirty="0"/>
              <a:t> using </a:t>
            </a:r>
            <a:r>
              <a:rPr lang="en-US" dirty="0" err="1"/>
              <a:t>XGBoost</a:t>
            </a:r>
            <a:r>
              <a:rPr lang="en-US" dirty="0"/>
              <a:t>. The training process iteratively continues in order to make the final prediction, and new trees are added that predict the residuals or errors of older 37 trees that are then combined with older trees. This process is known as gradient boosting because, when adding new models, it uses a gradient descent algorithm to </a:t>
            </a:r>
            <a:r>
              <a:rPr lang="en-US" dirty="0" err="1"/>
              <a:t>minimise</a:t>
            </a:r>
            <a:r>
              <a:rPr lang="en-US" dirty="0"/>
              <a:t> the loss. LDA(Latent Dirichlet allocation) also has the accuracy of 84 percent and here also we have used hyperparameter tuning like( solver = ’</a:t>
            </a:r>
            <a:r>
              <a:rPr lang="en-US" dirty="0" err="1"/>
              <a:t>svd</a:t>
            </a:r>
            <a:r>
              <a:rPr lang="en-US" dirty="0"/>
              <a:t>’,’</a:t>
            </a:r>
            <a:r>
              <a:rPr lang="en-US" dirty="0" err="1"/>
              <a:t>lsqr</a:t>
            </a:r>
            <a:r>
              <a:rPr lang="en-US" dirty="0"/>
              <a:t>’,’eigen’) and shrinkage in the range(0,1). Gaussian Naive Bayes has the lowest accuracy because here data is not normally distributed and also the variable are not continuous and we have used lots of data for training and this algorithm don’t work well for all these case. The accuracy of random forest method and K Nearest Neighbor are 85 and 83 percent respectively</a:t>
            </a:r>
            <a:endParaRPr lang="en-US" sz="1800" b="1" dirty="0">
              <a:solidFill>
                <a:srgbClr val="202124"/>
              </a:solidFill>
              <a:latin typeface="arial" panose="020B0604020202020204" pitchFamily="34" charset="0"/>
              <a:cs typeface="Arial" panose="020B0604020202020204" pitchFamily="34" charset="0"/>
            </a:endParaRPr>
          </a:p>
          <a:p>
            <a:pPr>
              <a:buClr>
                <a:schemeClr val="accent1"/>
              </a:buClr>
              <a:buFont typeface="Wingdings" panose="05000000000000000000" pitchFamily="2" charset="2"/>
              <a:buChar char="Ø"/>
            </a:pPr>
            <a:endParaRPr lang="en-US" b="1" i="1" dirty="0">
              <a:solidFill>
                <a:srgbClr val="202124"/>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51293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360" y="124578"/>
            <a:ext cx="8435280" cy="850106"/>
          </a:xfrm>
          <a:solidFill>
            <a:schemeClr val="accent1"/>
          </a:solidFill>
        </p:spPr>
        <p:txBody>
          <a:bodyPr>
            <a:normAutofit/>
          </a:bodyPr>
          <a:lstStyle/>
          <a:p>
            <a:pPr algn="l"/>
            <a:r>
              <a:rPr lang="en-GB" sz="3200" b="1" i="1" dirty="0">
                <a:solidFill>
                  <a:schemeClr val="bg1"/>
                </a:solidFill>
                <a:latin typeface="Arial" panose="020B0604020202020204" pitchFamily="34" charset="0"/>
                <a:cs typeface="Arial" panose="020B0604020202020204" pitchFamily="34" charset="0"/>
              </a:rPr>
              <a:t>Conclusions:</a:t>
            </a:r>
          </a:p>
        </p:txBody>
      </p:sp>
      <p:sp>
        <p:nvSpPr>
          <p:cNvPr id="3" name="Content Placeholder 2"/>
          <p:cNvSpPr>
            <a:spLocks noGrp="1"/>
          </p:cNvSpPr>
          <p:nvPr>
            <p:ph idx="1"/>
          </p:nvPr>
        </p:nvSpPr>
        <p:spPr>
          <a:xfrm>
            <a:off x="251520" y="1196754"/>
            <a:ext cx="8538120" cy="2664294"/>
          </a:xfrm>
        </p:spPr>
        <p:txBody>
          <a:bodyPr>
            <a:normAutofit/>
          </a:bodyPr>
          <a:lstStyle/>
          <a:p>
            <a:pPr>
              <a:buClr>
                <a:schemeClr val="accent1"/>
              </a:buClr>
              <a:buFont typeface="Wingdings" panose="05000000000000000000" pitchFamily="2" charset="2"/>
              <a:buChar char="Ø"/>
            </a:pPr>
            <a:r>
              <a:rPr lang="en-US" sz="1400" b="1" dirty="0"/>
              <a:t>Among all the machine learning techniques that we have used we can see that XG Boost has the best accuracy of 86 percent</a:t>
            </a:r>
            <a:r>
              <a:rPr lang="en-US" sz="1400" b="1" dirty="0">
                <a:solidFill>
                  <a:srgbClr val="202124"/>
                </a:solidFill>
                <a:latin typeface="arial" panose="020B0604020202020204" pitchFamily="34" charset="0"/>
              </a:rPr>
              <a:t>.</a:t>
            </a:r>
          </a:p>
          <a:p>
            <a:pPr>
              <a:buClr>
                <a:schemeClr val="accent1"/>
              </a:buClr>
              <a:buFont typeface="Wingdings" panose="05000000000000000000" pitchFamily="2" charset="2"/>
              <a:buChar char="Ø"/>
            </a:pPr>
            <a:r>
              <a:rPr lang="en-US" sz="1400" b="1" dirty="0"/>
              <a:t>It functions well because it employs several trees, one of which tries to forecast the goal, another some sort of residuals from the first tree, a third the residuals from the second tree, and so on</a:t>
            </a:r>
            <a:r>
              <a:rPr lang="en-US" sz="1400" b="1" dirty="0">
                <a:solidFill>
                  <a:srgbClr val="202124"/>
                </a:solidFill>
                <a:latin typeface="arial" panose="020B0604020202020204" pitchFamily="34" charset="0"/>
              </a:rPr>
              <a:t>.</a:t>
            </a:r>
          </a:p>
          <a:p>
            <a:pPr>
              <a:buClr>
                <a:schemeClr val="accent1"/>
              </a:buClr>
              <a:buFont typeface="Wingdings" panose="05000000000000000000" pitchFamily="2" charset="2"/>
              <a:buChar char="Ø"/>
            </a:pPr>
            <a:r>
              <a:rPr lang="en-US" sz="1400" b="1" dirty="0"/>
              <a:t>Pre-processing operations were carried out on the extracted dataset, including cleaning and </a:t>
            </a:r>
            <a:r>
              <a:rPr lang="en-US" sz="1400" b="1" dirty="0" err="1"/>
              <a:t>normalisation</a:t>
            </a:r>
            <a:r>
              <a:rPr lang="en-US" sz="1400" b="1" dirty="0"/>
              <a:t>, to increase the precision of classification and prediction</a:t>
            </a:r>
            <a:r>
              <a:rPr lang="en-US" sz="1400" b="1" i="0" dirty="0">
                <a:solidFill>
                  <a:srgbClr val="202124"/>
                </a:solidFill>
                <a:effectLst/>
                <a:latin typeface="arial" panose="020B0604020202020204" pitchFamily="34" charset="0"/>
              </a:rPr>
              <a:t>.</a:t>
            </a:r>
            <a:r>
              <a:rPr lang="en-US" b="1" i="0" dirty="0">
                <a:solidFill>
                  <a:srgbClr val="202124"/>
                </a:solidFill>
                <a:effectLst/>
                <a:latin typeface="arial" panose="020B0604020202020204" pitchFamily="34" charset="0"/>
              </a:rPr>
              <a:t> </a:t>
            </a:r>
          </a:p>
          <a:p>
            <a:pPr>
              <a:buClr>
                <a:schemeClr val="accent1"/>
              </a:buClr>
              <a:buFont typeface="Wingdings" panose="05000000000000000000" pitchFamily="2" charset="2"/>
              <a:buChar char="Ø"/>
            </a:pPr>
            <a:r>
              <a:rPr lang="en-US" sz="1400" b="1" dirty="0"/>
              <a:t>The future work include that we need to study about various </a:t>
            </a:r>
            <a:r>
              <a:rPr lang="en-US" sz="1400" b="1" dirty="0" err="1"/>
              <a:t>meterogical</a:t>
            </a:r>
            <a:r>
              <a:rPr lang="en-US" sz="1400" b="1" dirty="0"/>
              <a:t> parameter that is affecting the rainfall prediction because it depends on various parameter</a:t>
            </a:r>
            <a:r>
              <a:rPr lang="en-US" dirty="0"/>
              <a:t>.</a:t>
            </a:r>
            <a:endParaRPr lang="en-US" b="1" i="0" dirty="0">
              <a:solidFill>
                <a:srgbClr val="202124"/>
              </a:solidFill>
              <a:effectLst/>
              <a:latin typeface="arial" panose="020B0604020202020204" pitchFamily="34" charset="0"/>
            </a:endParaRPr>
          </a:p>
          <a:p>
            <a:pPr marL="0" indent="0">
              <a:buClr>
                <a:schemeClr val="accent1"/>
              </a:buClr>
              <a:buNone/>
            </a:pPr>
            <a:endParaRPr lang="en-US" b="1" dirty="0">
              <a:solidFill>
                <a:srgbClr val="202124"/>
              </a:solidFill>
              <a:latin typeface="arial" panose="020B0604020202020204" pitchFamily="34" charset="0"/>
              <a:cs typeface="Arial" panose="020B0604020202020204" pitchFamily="34" charset="0"/>
            </a:endParaRPr>
          </a:p>
          <a:p>
            <a:pPr>
              <a:buClr>
                <a:schemeClr val="accent1"/>
              </a:buClr>
              <a:buFont typeface="Wingdings" panose="05000000000000000000" pitchFamily="2" charset="2"/>
              <a:buChar char="Ø"/>
            </a:pPr>
            <a:endParaRPr lang="en-US" b="1" i="1" dirty="0">
              <a:solidFill>
                <a:srgbClr val="202124"/>
              </a:solidFill>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BE90CB16-23BE-D77C-832C-AB984232A8D9}"/>
              </a:ext>
            </a:extLst>
          </p:cNvPr>
          <p:cNvSpPr txBox="1">
            <a:spLocks/>
          </p:cNvSpPr>
          <p:nvPr/>
        </p:nvSpPr>
        <p:spPr>
          <a:xfrm>
            <a:off x="354360" y="3962469"/>
            <a:ext cx="8435280" cy="762675"/>
          </a:xfrm>
          <a:prstGeom prst="rect">
            <a:avLst/>
          </a:prstGeom>
          <a:solidFill>
            <a:schemeClr val="accent1"/>
          </a:solidFill>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3200" b="1" i="1" dirty="0">
                <a:solidFill>
                  <a:schemeClr val="bg1"/>
                </a:solidFill>
                <a:latin typeface="Arial" panose="020B0604020202020204" pitchFamily="34" charset="0"/>
                <a:cs typeface="Arial" panose="020B0604020202020204" pitchFamily="34" charset="0"/>
              </a:rPr>
              <a:t>References:</a:t>
            </a:r>
          </a:p>
        </p:txBody>
      </p:sp>
      <p:sp>
        <p:nvSpPr>
          <p:cNvPr id="9" name="TextBox 8">
            <a:extLst>
              <a:ext uri="{FF2B5EF4-FFF2-40B4-BE49-F238E27FC236}">
                <a16:creationId xmlns:a16="http://schemas.microsoft.com/office/drawing/2014/main" id="{B635FC2A-3F78-C137-17B0-107728D21355}"/>
              </a:ext>
            </a:extLst>
          </p:cNvPr>
          <p:cNvSpPr txBox="1"/>
          <p:nvPr/>
        </p:nvSpPr>
        <p:spPr>
          <a:xfrm>
            <a:off x="354360" y="4935410"/>
            <a:ext cx="8435280" cy="1754326"/>
          </a:xfrm>
          <a:prstGeom prst="rect">
            <a:avLst/>
          </a:prstGeom>
          <a:noFill/>
        </p:spPr>
        <p:txBody>
          <a:bodyPr wrap="square">
            <a:spAutoFit/>
          </a:bodyPr>
          <a:lstStyle/>
          <a:p>
            <a:r>
              <a:rPr lang="en-US" dirty="0"/>
              <a:t>[Abbot and </a:t>
            </a:r>
            <a:r>
              <a:rPr lang="en-US" dirty="0" err="1"/>
              <a:t>Marohasy</a:t>
            </a:r>
            <a:r>
              <a:rPr lang="en-US" dirty="0"/>
              <a:t>, 2012] Abbot, J. and </a:t>
            </a:r>
            <a:r>
              <a:rPr lang="en-US" dirty="0" err="1"/>
              <a:t>Marohasy</a:t>
            </a:r>
            <a:r>
              <a:rPr lang="en-US" dirty="0"/>
              <a:t>, J. (2012). Application of artificial neural networks to rainfall forecasting in </a:t>
            </a:r>
            <a:r>
              <a:rPr lang="en-US" dirty="0" err="1"/>
              <a:t>queensland</a:t>
            </a:r>
            <a:r>
              <a:rPr lang="en-US" dirty="0"/>
              <a:t>, </a:t>
            </a:r>
            <a:r>
              <a:rPr lang="en-US" dirty="0" err="1"/>
              <a:t>australia</a:t>
            </a:r>
            <a:r>
              <a:rPr lang="en-US" dirty="0"/>
              <a:t>. Advances in Atmospheric Sciences, 29(4):717–730</a:t>
            </a:r>
            <a:r>
              <a:rPr lang="en-US" i="1" dirty="0"/>
              <a:t>.</a:t>
            </a:r>
          </a:p>
          <a:p>
            <a:r>
              <a:rPr lang="en-US" dirty="0"/>
              <a:t>[</a:t>
            </a:r>
            <a:r>
              <a:rPr lang="en-US" dirty="0" err="1"/>
              <a:t>Bengio</a:t>
            </a:r>
            <a:r>
              <a:rPr lang="en-US" dirty="0"/>
              <a:t> et al., 2009] </a:t>
            </a:r>
            <a:r>
              <a:rPr lang="en-US" dirty="0" err="1"/>
              <a:t>Bengio</a:t>
            </a:r>
            <a:r>
              <a:rPr lang="en-US" dirty="0"/>
              <a:t>, Y. et al. (2009). Learning deep architectures for ai. </a:t>
            </a:r>
            <a:r>
              <a:rPr lang="en-US"/>
              <a:t>Foundations and trends® in Machine Learning, 2(1):1–127.</a:t>
            </a:r>
            <a:endParaRPr lang="en-US" i="1" dirty="0"/>
          </a:p>
          <a:p>
            <a:r>
              <a:rPr lang="en-IN" i="1" dirty="0"/>
              <a:t>. </a:t>
            </a:r>
          </a:p>
        </p:txBody>
      </p:sp>
    </p:spTree>
    <p:extLst>
      <p:ext uri="{BB962C8B-B14F-4D97-AF65-F5344CB8AC3E}">
        <p14:creationId xmlns:p14="http://schemas.microsoft.com/office/powerpoint/2010/main" val="373680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2161A1A-25B8-BB0C-628F-8A0C3B6F2843}"/>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137264" y="836613"/>
            <a:ext cx="7107144" cy="5205412"/>
          </a:xfrm>
        </p:spPr>
      </p:pic>
    </p:spTree>
    <p:extLst>
      <p:ext uri="{BB962C8B-B14F-4D97-AF65-F5344CB8AC3E}">
        <p14:creationId xmlns:p14="http://schemas.microsoft.com/office/powerpoint/2010/main" val="224584059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10243</TotalTime>
  <Words>1195</Words>
  <Application>Microsoft Office PowerPoint</Application>
  <PresentationFormat>On-screen Show (4:3)</PresentationFormat>
  <Paragraphs>34</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Arial</vt:lpstr>
      <vt:lpstr>Calibri</vt:lpstr>
      <vt:lpstr>Trebuchet MS</vt:lpstr>
      <vt:lpstr>Wingdings</vt:lpstr>
      <vt:lpstr>Wingdings 3</vt:lpstr>
      <vt:lpstr>Facet</vt:lpstr>
      <vt:lpstr>Rainfall prediction using machine learning</vt:lpstr>
      <vt:lpstr>Introduction: </vt:lpstr>
      <vt:lpstr>Historical Data about the dataset used:</vt:lpstr>
      <vt:lpstr>Algorithms used for machine learning:</vt:lpstr>
      <vt:lpstr>4)Logistic Regression: Classification problems may have binary or multiple outcomes or classes. In our case we will be using binary logistic regression since there are only 2 classes available in the data. Logistic regression is a statistical model in which discrete value is given by response variable and the explanatory variable can be either continuous and discrete Let us assume that outcomes are positive(coded as Y=1) and negative coded as(Y=0).  5)Latent Dirichlet Allocation (LDA), a generative statistical model used in natural language processing, explains a set of observations through unseen groups, with each group explaining why certain portions of the data are similar. An illustration of a topic model is the LDA.  6)XG Boost Classifier: Some model compression strategies allow turning an XGBoost into a single "born-again" decision tree that roughly approximates the same decision function in order to achieve performance and interpretability. Some of the features XG Boost algorithm has that make it different from other algorithm</vt:lpstr>
      <vt:lpstr>Results and Discussions:</vt:lpstr>
      <vt:lpstr>Conclusions:</vt:lpstr>
      <vt:lpstr>PowerPoint Presentation</vt:lpstr>
    </vt:vector>
  </TitlesOfParts>
  <Company>University of Essex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Shafiq Beskom</dc:creator>
  <cp:lastModifiedBy>Ghosh Majumder, Pratyay</cp:lastModifiedBy>
  <cp:revision>112</cp:revision>
  <dcterms:created xsi:type="dcterms:W3CDTF">2018-10-01T15:50:51Z</dcterms:created>
  <dcterms:modified xsi:type="dcterms:W3CDTF">2022-09-22T22:41:08Z</dcterms:modified>
</cp:coreProperties>
</file>